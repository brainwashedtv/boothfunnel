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BRAND BOOK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 01 · 2026 edition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0" y="2103120"/>
            <a:ext cx="914400" cy="914400"/>
          </a:xfrm>
          <a:prstGeom prst="ellipse">
            <a:avLst/>
          </a:prstGeom>
          <a:solidFill>
            <a:srgbClr val="FFFFFF">
              <a:alpha val="0"/>
            </a:srgbClr>
          </a:solidFill>
          <a:ln w="9525">
            <a:solidFill>
              <a:srgbClr val="1A16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0" y="213969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bf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3474720" y="36576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spc="-2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</a:t>
            </a:r>
            <a:pPr indent="0" marL="0">
              <a:buNone/>
            </a:pPr>
            <a:r>
              <a:rPr lang="en-US" sz="8000" i="1" spc="-100" kern="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funnel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548640" y="5212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guest list, </a:t>
            </a:r>
            <a:pPr algn="ctr" indent="0" marL="0">
              <a:buNone/>
            </a:pPr>
            <a:r>
              <a:rPr lang="en-US" sz="17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disguised as a photobooth</a:t>
            </a:r>
            <a:pPr algn="ctr"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603504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263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985455" y="6263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 use only · v1.0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· THE BRAND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spc="-15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film company that grew up.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makes branded social photobooths for bars, restaurants, and event venues — built so every guest leaves with a branded photo on their phone, and the operator leaves with their email.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sit at the intersection of two ideas: the analog photo as a moment — borrowed, branded, instantly shareable — and the modern operator's need for a marketing channel that builds a list while it builds a feed.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brand reflects that. Modern grotesque sans does the work. </a:t>
            </a:r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italic serif moment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carries the heritage. The digital frame holds the world together.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778240" y="2377440"/>
            <a:ext cx="28346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0" y="22860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006840" y="310896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Sophistication signals trust. We close $499 a month with quiet authority — not by shouting.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006840" y="5212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Brand principle no. 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· AT A GLANCE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brand, on one page.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6616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</a:t>
            </a:r>
            <a:pPr indent="0" marL="0">
              <a:buNone/>
            </a:pPr>
            <a:r>
              <a:rPr lang="en-US" sz="28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funnel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77240" y="4023360"/>
            <a:ext cx="822960" cy="822960"/>
          </a:xfrm>
          <a:prstGeom prst="ellipse">
            <a:avLst/>
          </a:prstGeom>
          <a:solidFill>
            <a:srgbClr val="FFFFFF">
              <a:alpha val="0"/>
            </a:srgbClr>
          </a:solidFill>
          <a:ln w="9525">
            <a:solidFill>
              <a:srgbClr val="1A16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05627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bf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1783080" y="4160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Wordmark + seal.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Mixed sans / italic serif. Red is the moment.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011680"/>
            <a:ext cx="356616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26280" y="2743200"/>
            <a:ext cx="594360" cy="2377440"/>
          </a:xfrm>
          <a:prstGeom prst="rect">
            <a:avLst/>
          </a:prstGeom>
          <a:solidFill>
            <a:srgbClr val="F2EAD8"/>
          </a:solidFill>
          <a:ln w="12700">
            <a:solidFill>
              <a:srgbClr val="F2EA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66360" y="2743200"/>
            <a:ext cx="594360" cy="2377440"/>
          </a:xfrm>
          <a:prstGeom prst="rect">
            <a:avLst/>
          </a:prstGeom>
          <a:solidFill>
            <a:srgbClr val="1A1612"/>
          </a:solidFill>
          <a:ln w="12700">
            <a:solidFill>
              <a:srgbClr val="1A16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06440" y="2743200"/>
            <a:ext cx="594360" cy="2377440"/>
          </a:xfrm>
          <a:prstGeom prst="rect">
            <a:avLst/>
          </a:prstGeom>
          <a:solidFill>
            <a:srgbClr val="B33A2A"/>
          </a:solidFill>
          <a:ln w="12700">
            <a:solidFill>
              <a:srgbClr val="B33A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2743200"/>
            <a:ext cx="594360" cy="2377440"/>
          </a:xfrm>
          <a:prstGeom prst="rect">
            <a:avLst/>
          </a:prstGeom>
          <a:solidFill>
            <a:srgbClr val="C9A063"/>
          </a:solidFill>
          <a:ln w="12700">
            <a:solidFill>
              <a:srgbClr val="C9A06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2743200"/>
            <a:ext cx="5943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86600" y="2743200"/>
            <a:ext cx="594360" cy="2377440"/>
          </a:xfrm>
          <a:prstGeom prst="rect">
            <a:avLst/>
          </a:prstGeom>
          <a:ln w="6350">
            <a:solidFill>
              <a:srgbClr val="E5DC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5212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Cream is the canvas.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Ink is the voice.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 is the moment.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2011680"/>
            <a:ext cx="356616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TYPE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75320" y="26060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Söhne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827532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Workhorse — body, nav, buttons.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75320" y="3703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GT Sectra Italic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827532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Accent — one phrase per page.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75320" y="5029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 &amp; Georgia as accessible alternates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  ·  ·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spc="-200" kern="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Logo system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0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Wordmark, seal, and how they live together.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· LOGO / WORDMARK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wordmark.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27432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spc="-2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</a:t>
            </a:r>
            <a:pPr indent="0" marL="0">
              <a:buNone/>
            </a:pPr>
            <a:r>
              <a:rPr lang="en-US" sz="11000" i="1" spc="-100" kern="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funnel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548640" y="452628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PRIMARY · 110pt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4983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ANATOMY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52120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“Booth”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Söhne (Helvetica Neue alt) · tracking −20.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“funnel”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GT Sectra Italic (Georgia alt) ·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B33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#B33A2A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0" y="4983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 SPACE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521208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Padding equal to the cap height of "B" on all sides.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Minimum size: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120px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on screen ·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1.0″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in print.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17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· LOGO / THE SEAL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seal.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italic serif voice as the wordmark. Used where the wordmark won't fit.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26060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0140" y="2834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9525">
            <a:solidFill>
              <a:srgbClr val="1A16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0140" y="2893162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bf</a:t>
            </a:r>
            <a:endParaRPr lang="en-US" sz="8000" dirty="0"/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Default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8920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everyday seal.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2377440"/>
            <a:ext cx="2606040" cy="3291840"/>
          </a:xfrm>
          <a:prstGeom prst="rect">
            <a:avLst/>
          </a:prstGeom>
          <a:solidFill>
            <a:srgbClr val="1A1612"/>
          </a:solidFill>
          <a:ln w="12700">
            <a:solidFill>
              <a:srgbClr val="1A16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09060" y="2834640"/>
            <a:ext cx="1463040" cy="1463040"/>
          </a:xfrm>
          <a:prstGeom prst="ellipse">
            <a:avLst/>
          </a:prstGeom>
          <a:solidFill>
            <a:srgbClr val="1A1612"/>
          </a:solidFill>
          <a:ln w="12700">
            <a:solidFill>
              <a:srgbClr val="1A16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09060" y="2893162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bf</a:t>
            </a:r>
            <a:endParaRPr lang="en-US" sz="8000" dirty="0"/>
          </a:p>
        </p:txBody>
      </p:sp>
      <p:sp>
        <p:nvSpPr>
          <p:cNvPr id="14" name="Text 12"/>
          <p:cNvSpPr/>
          <p:nvPr/>
        </p:nvSpPr>
        <p:spPr>
          <a:xfrm>
            <a:off x="3520440" y="4572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48920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F2EAD8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Dark surfaces.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2377440"/>
            <a:ext cx="2606040" cy="3291840"/>
          </a:xfrm>
          <a:prstGeom prst="rect">
            <a:avLst/>
          </a:prstGeom>
          <a:solidFill>
            <a:srgbClr val="B33A2A"/>
          </a:solidFill>
          <a:ln w="12700">
            <a:solidFill>
              <a:srgbClr val="B33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7980" y="2834640"/>
            <a:ext cx="1463040" cy="1463040"/>
          </a:xfrm>
          <a:prstGeom prst="ellipse">
            <a:avLst/>
          </a:prstGeom>
          <a:solidFill>
            <a:srgbClr val="F2EAD8"/>
          </a:solidFill>
          <a:ln w="12700">
            <a:solidFill>
              <a:srgbClr val="F2EA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97980" y="2893162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bf</a:t>
            </a:r>
            <a:endParaRPr lang="en-US" sz="8000" dirty="0"/>
          </a:p>
        </p:txBody>
      </p:sp>
      <p:sp>
        <p:nvSpPr>
          <p:cNvPr id="19" name="Text 17"/>
          <p:cNvSpPr/>
          <p:nvPr/>
        </p:nvSpPr>
        <p:spPr>
          <a:xfrm>
            <a:off x="6309360" y="4572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Stamp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09360" y="48920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F2EAD8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Photo corners, CTAs.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15400" y="2377440"/>
            <a:ext cx="26060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86900" y="2834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9525">
            <a:solidFill>
              <a:srgbClr val="1A16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86900" y="2893162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BF</a:t>
            </a:r>
            <a:endParaRPr lang="en-US" sz="8000" dirty="0"/>
          </a:p>
        </p:txBody>
      </p:sp>
      <p:sp>
        <p:nvSpPr>
          <p:cNvPr id="24" name="Text 22"/>
          <p:cNvSpPr/>
          <p:nvPr/>
        </p:nvSpPr>
        <p:spPr>
          <a:xfrm>
            <a:off x="9098280" y="4572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Uppercase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098280" y="48920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Embossed, formal.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85216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USAGE  </a:t>
            </a:r>
            <a:pPr indent="0" marL="0"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Wordmark won't fit (favicons, avatars, watermarks). Or a stamp moment is needed (digital photo corners, email signatures, business cards). Or the wordmark would be redundant (back of card, hardware nameplates).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/ 17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· LOGO / LOCKUP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lockup.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Seal and wordmark together — the most formal expression of the brand.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06424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0" y="3383280"/>
            <a:ext cx="1280160" cy="1280160"/>
          </a:xfrm>
          <a:prstGeom prst="ellipse">
            <a:avLst/>
          </a:prstGeom>
          <a:solidFill>
            <a:srgbClr val="FFFFFF">
              <a:alpha val="0"/>
            </a:srgbClr>
          </a:solidFill>
          <a:ln w="9525">
            <a:solidFill>
              <a:srgbClr val="1A16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3434486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bf</a:t>
            </a:r>
            <a:endParaRPr lang="en-US" sz="7000" dirty="0"/>
          </a:p>
        </p:txBody>
      </p:sp>
      <p:sp>
        <p:nvSpPr>
          <p:cNvPr id="9" name="Shape 7"/>
          <p:cNvSpPr/>
          <p:nvPr/>
        </p:nvSpPr>
        <p:spPr>
          <a:xfrm>
            <a:off x="4114800" y="3520440"/>
            <a:ext cx="0" cy="914400"/>
          </a:xfrm>
          <a:prstGeom prst="line">
            <a:avLst/>
          </a:prstGeom>
          <a:noFill/>
          <a:ln w="9525">
            <a:solidFill>
              <a:srgbClr val="C9A0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36576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spc="-2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</a:t>
            </a:r>
            <a:pPr indent="0" marL="0">
              <a:buNone/>
            </a:pPr>
            <a:r>
              <a:rPr lang="en-US" sz="7000" i="1" spc="-100" kern="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funnel</a:t>
            </a:r>
            <a:endParaRPr lang="en-US" sz="7000" dirty="0"/>
          </a:p>
        </p:txBody>
      </p:sp>
      <p:sp>
        <p:nvSpPr>
          <p:cNvPr id="11" name="Text 9"/>
          <p:cNvSpPr/>
          <p:nvPr/>
        </p:nvSpPr>
        <p:spPr>
          <a:xfrm>
            <a:off x="548640" y="516636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LOCKUP · LANDSCAPE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56692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THE LOCKUP FOR  </a:t>
            </a:r>
            <a:pPr indent="0" marL="0"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homepage hero, the cover of legal documents, signage, the title slide of any deck. Use the wordmark alone elsewhere.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/ 17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  ·  ·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spc="-200" kern="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Color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0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Cream is the canvas. Ink is the voice. Red is the moment.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· COLOR / PRIMARY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Primary palette.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611880" cy="4206240"/>
          </a:xfrm>
          <a:prstGeom prst="rect">
            <a:avLst/>
          </a:prstGeom>
          <a:solidFill>
            <a:srgbClr val="F2EAD8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402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CANVAS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Cream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HEX 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#F2EAD8</a:t>
            </a:r>
            <a:endParaRPr lang="en-US" sz="9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RGB 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242 234 216</a:t>
            </a:r>
            <a:endParaRPr lang="en-US" sz="9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CMYK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0 3 11 5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43400" y="1920240"/>
            <a:ext cx="3611880" cy="4206240"/>
          </a:xfrm>
          <a:prstGeom prst="rect">
            <a:avLst/>
          </a:prstGeom>
          <a:solidFill>
            <a:srgbClr val="1A1612"/>
          </a:solidFill>
          <a:ln w="12700">
            <a:solidFill>
              <a:srgbClr val="1A16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2402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VOICE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2560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Ink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17720" y="484632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HEX 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#1A1612</a:t>
            </a:r>
            <a:endParaRPr lang="en-US" sz="9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RGB 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26 22 18</a:t>
            </a:r>
            <a:endParaRPr lang="en-US" sz="9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CMYK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0 15 31 90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611880" cy="4206240"/>
          </a:xfrm>
          <a:prstGeom prst="rect">
            <a:avLst/>
          </a:prstGeom>
          <a:solidFill>
            <a:srgbClr val="B33A2A"/>
          </a:solidFill>
          <a:ln w="12700">
            <a:solidFill>
              <a:srgbClr val="B33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22402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MOMENT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412480" y="2560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Kodak red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412480" y="484632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HEX 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#B33A2A</a:t>
            </a:r>
            <a:endParaRPr lang="en-US" sz="9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RGB 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179 58 42</a:t>
            </a:r>
            <a:endParaRPr lang="en-US" sz="9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CMYK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0 68 77 30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17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· COLOR / SUPPORTING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Supporting + rules.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SUPPORTING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2688336" cy="2194560"/>
          </a:xfrm>
          <a:prstGeom prst="rect">
            <a:avLst/>
          </a:prstGeom>
          <a:solidFill>
            <a:srgbClr val="C9A063"/>
          </a:solidFill>
          <a:ln w="12700">
            <a:solidFill>
              <a:srgbClr val="C9A0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423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TEXTURE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1520" y="262432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Brass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4023360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#C9A063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55848" y="2240280"/>
            <a:ext cx="268833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2423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PHOTO BORDER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538728" y="262432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 white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38728" y="4023360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#FFFFFF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2240280"/>
            <a:ext cx="2688336" cy="2194560"/>
          </a:xfrm>
          <a:prstGeom prst="rect">
            <a:avLst/>
          </a:prstGeom>
          <a:solidFill>
            <a:srgbClr val="5A4A38"/>
          </a:solidFill>
          <a:ln w="12700">
            <a:solidFill>
              <a:srgbClr val="5A4A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423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BODY SUBDUED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45936" y="262432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100" kern="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45936" y="4023360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#5A4A38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70264" y="2240280"/>
            <a:ext cx="2688336" cy="2194560"/>
          </a:xfrm>
          <a:prstGeom prst="rect">
            <a:avLst/>
          </a:prstGeom>
          <a:solidFill>
            <a:srgbClr val="8C5142"/>
          </a:solidFill>
          <a:ln w="12700">
            <a:solidFill>
              <a:srgbClr val="8C51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53144" y="2423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EYEBROW / METADATA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153144" y="262432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100" kern="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Rust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53144" y="4023360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#8C5142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7548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USAGE RULES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5257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" y="5257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60% Cream — backgrounds and surface treatments. Never stark white as page background.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55869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51560" y="558698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30% Ink — body type, headlines, primary surfaces and rules.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5916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591616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8% Kodak red — accent words in headlines, primary CTAs, the seal stamp. Reserve.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245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51560" y="624535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2% Brass + others — fine details, hairlines, metadata. Texture only.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  ·  ·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spc="-200" kern="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Typography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0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grotesque does the work. Italic serif does the moment.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· TYPOGRAPHY / HIERARCHY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Hierarchy.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DISPLAY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828800" y="20574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spc="-5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Photobooths that pay for themselves.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503920" y="2176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Söhne · 64pt · −2 tracking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11064240" cy="0"/>
          </a:xfrm>
          <a:prstGeom prst="line">
            <a:avLst/>
          </a:prstGeom>
          <a:noFill/>
          <a:ln w="6350">
            <a:solidFill>
              <a:srgbClr val="E5DCC8">
                <a:alpha val="5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62432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box to revenue.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503920" y="27432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Söhne · 44pt · −1.5 tracking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127248"/>
            <a:ext cx="11064240" cy="0"/>
          </a:xfrm>
          <a:prstGeom prst="line">
            <a:avLst/>
          </a:prstGeom>
          <a:noFill/>
          <a:ln w="6350">
            <a:solidFill>
              <a:srgbClr val="E5DCC8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3697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19125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it works.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03920" y="33101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Söhne · 28pt · −1 tracking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694176"/>
            <a:ext cx="11064240" cy="0"/>
          </a:xfrm>
          <a:prstGeom prst="line">
            <a:avLst/>
          </a:prstGeom>
          <a:noFill/>
          <a:ln w="6350">
            <a:solidFill>
              <a:srgbClr val="E5DCC8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80390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28800" y="375818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5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a plan, upload your brand.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03920" y="38770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Söhne · 18pt · 0 tracking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261104"/>
            <a:ext cx="11064240" cy="0"/>
          </a:xfrm>
          <a:prstGeom prst="line">
            <a:avLst/>
          </a:prstGeom>
          <a:noFill/>
          <a:ln w="6350">
            <a:solidFill>
              <a:srgbClr val="E5DCC8">
                <a:alpha val="5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3708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BODY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828800" y="432511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-50" kern="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Friday night, hundreds of phones come out.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03920" y="444398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Söhne · 14pt · 1.6 line height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828032"/>
            <a:ext cx="11064240" cy="0"/>
          </a:xfrm>
          <a:prstGeom prst="line">
            <a:avLst/>
          </a:prstGeom>
          <a:noFill/>
          <a:ln w="6350">
            <a:solidFill>
              <a:srgbClr val="E5DCC8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9377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828800" y="489204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50" kern="0" dirty="0">
                <a:solidFill>
                  <a:srgbClr val="8C51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Brooklyn · 11.04 · 02:14am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03920" y="50109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Söhne mono · 10pt · 0.8 ratio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11064240" cy="0"/>
          </a:xfrm>
          <a:prstGeom prst="line">
            <a:avLst/>
          </a:prstGeom>
          <a:noFill/>
          <a:ln w="6350">
            <a:solidFill>
              <a:srgbClr val="E5DCC8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5046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ITALIC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828800" y="545896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spc="-50" kern="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 for themselves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503920" y="55778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 Sectra Italic · 1 phrase per page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· TYPOGRAPHY / THE ITALIC MOMENT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italic </a:t>
            </a:r>
            <a:pPr indent="0" marL="0">
              <a:buNone/>
            </a:pPr>
            <a:r>
              <a:rPr lang="en-US" sz="3600" i="1" spc="-50" kern="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moment</a:t>
            </a:r>
            <a:pPr indent="0" marL="0">
              <a:buNone/>
            </a:pPr>
            <a:r>
              <a:rPr lang="en-US" sz="36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brand's signature gesture. One italic-serif phrase per page, in red. Used as a director uses a motif — recognizable, restrained, never repeated within the same scene.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64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9077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guest list, </a:t>
            </a:r>
            <a:pPr indent="0" marL="0">
              <a:buNone/>
            </a:pPr>
            <a:r>
              <a:rPr lang="en-US" sz="2600" i="1" spc="-50" kern="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disguised as a photobooth</a:t>
            </a:r>
            <a:pPr indent="0" marL="0">
              <a:buNone/>
            </a:pPr>
            <a:r>
              <a:rPr lang="en-US" sz="26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EXAMPLE 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64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09651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box to </a:t>
            </a:r>
            <a:pPr indent="0" marL="0">
              <a:buNone/>
            </a:pPr>
            <a:r>
              <a:rPr lang="en-US" sz="2600" i="1" spc="-50" kern="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contact</a:t>
            </a:r>
            <a:pPr indent="0" marL="0">
              <a:buNone/>
            </a:pPr>
            <a:r>
              <a:rPr lang="en-US" sz="26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in three moves.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77240" y="4681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EXAMPLE 02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28523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Branded photos. </a:t>
            </a:r>
            <a:pPr indent="0" marL="0">
              <a:buNone/>
            </a:pPr>
            <a:r>
              <a:rPr lang="en-US" sz="2600" i="1" spc="-50" kern="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emails</a:t>
            </a:r>
            <a:pPr indent="0" marL="0">
              <a:buNone/>
            </a:pPr>
            <a:r>
              <a:rPr lang="en-US" sz="26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77240" y="5870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EXAMPLE 03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17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· PHOTOGRAPHY &amp; THE DIGITAL FRAME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Photography direction.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6576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240280"/>
            <a:ext cx="3200400" cy="2743200"/>
          </a:xfrm>
          <a:prstGeom prst="rect">
            <a:avLst/>
          </a:prstGeom>
          <a:solidFill>
            <a:srgbClr val="1A1612"/>
          </a:solidFill>
          <a:ln w="12700">
            <a:solidFill>
              <a:srgbClr val="1A16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Brooklyn · 11.04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2011680"/>
            <a:ext cx="36576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2240280"/>
            <a:ext cx="3200400" cy="2743200"/>
          </a:xfrm>
          <a:prstGeom prst="rect">
            <a:avLst/>
          </a:prstGeom>
          <a:solidFill>
            <a:srgbClr val="B33A2A"/>
          </a:solidFill>
          <a:ln w="12700">
            <a:solidFill>
              <a:srgbClr val="B33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Your venue · Sat 02:14am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43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Branded moment.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2011680"/>
            <a:ext cx="36576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2240280"/>
            <a:ext cx="3200400" cy="2743200"/>
          </a:xfrm>
          <a:prstGeom prst="rect">
            <a:avLst/>
          </a:prstGeom>
          <a:solidFill>
            <a:srgbClr val="C9A063"/>
          </a:solidFill>
          <a:ln w="12700">
            <a:solidFill>
              <a:srgbClr val="C9A06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Wedding · 09.21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Unobtrusive.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17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· VOICE &amp; TONE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Voice.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principles. Hold them when in doubt.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554480" y="2377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5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Operator-first.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7432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talk to the bar owner and the GM, not the customer. Words like "floor," "shift," "cover," "weekend." If a phrase wouldn't make sense to someone holding a clipboard at 11pm, cut it.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509760" y="2377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1D9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  </a:t>
            </a:r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"Get a booth on your floor before this weekend."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50976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B33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  </a:t>
            </a:r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"Unlock the power of social-driven engagement."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11064240" cy="0"/>
          </a:xfrm>
          <a:prstGeom prst="line">
            <a:avLst/>
          </a:prstGeom>
          <a:noFill/>
          <a:ln w="6350">
            <a:solidFill>
              <a:srgbClr val="E5DCC8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794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554480" y="37947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5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Quietly confident.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use exclamation points. We don't say "revolutionary." The product is good — that should come through in specifics, not adjectives. Sophistication signals trust.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50976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1D9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  </a:t>
            </a:r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"Most operators see ROI in week three."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509760" y="44348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B33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  </a:t>
            </a:r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most amazing photobooth ever!"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6350">
            <a:solidFill>
              <a:srgbClr val="E5DCC8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212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554480" y="5212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5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Specific, not abstract.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54480" y="55778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Numbers, places, times of day. Brooklyn at 02:14am. Saturday past 100 captures. The italic moment lands when everything around it is concrete.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509760" y="5212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1D9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  </a:t>
            </a:r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"4,200 captures in 60 days. $1,400 of ads cancelled."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9509760" y="5852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B33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  </a:t>
            </a:r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"Boost your social presence with our innovative platform."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 / 17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· APPLICATION / WEB HERO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the wild.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11064240" cy="365760"/>
          </a:xfrm>
          <a:prstGeom prst="rect">
            <a:avLst/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21408"/>
            <a:ext cx="137160" cy="137160"/>
          </a:xfrm>
          <a:prstGeom prst="ellipse">
            <a:avLst/>
          </a:prstGeom>
          <a:solidFill>
            <a:srgbClr val="C9C9C9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121408"/>
            <a:ext cx="137160" cy="137160"/>
          </a:xfrm>
          <a:prstGeom prst="ellipse">
            <a:avLst/>
          </a:prstGeom>
          <a:solidFill>
            <a:srgbClr val="C9C9C9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2121408"/>
            <a:ext cx="137160" cy="137160"/>
          </a:xfrm>
          <a:prstGeom prst="ellipse">
            <a:avLst/>
          </a:prstGeom>
          <a:solidFill>
            <a:srgbClr val="C9C9C9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0756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boothfunnel.com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</a:t>
            </a:r>
            <a:pPr indent="0" marL="0">
              <a:buNone/>
            </a:pPr>
            <a:r>
              <a:rPr lang="en-US" sz="16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funnel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2651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it works  ·  Industries  ·  Pricing  ·  Case studies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0" y="2587752"/>
            <a:ext cx="1280160" cy="329184"/>
          </a:xfrm>
          <a:prstGeom prst="rect">
            <a:avLst/>
          </a:prstGeom>
          <a:solidFill>
            <a:srgbClr val="1A1612"/>
          </a:solidFill>
          <a:ln w="12700">
            <a:solidFill>
              <a:srgbClr val="1A16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0" y="2606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your booth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11064240" cy="0"/>
          </a:xfrm>
          <a:prstGeom prst="line">
            <a:avLst/>
          </a:prstGeom>
          <a:noFill/>
          <a:ln w="6350">
            <a:solidFill>
              <a:srgbClr val="E5DC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108960"/>
            <a:ext cx="11064240" cy="3474720"/>
          </a:xfrm>
          <a:prstGeom prst="rect">
            <a:avLst/>
          </a:prstGeom>
          <a:solidFill>
            <a:srgbClr val="F2EAD8"/>
          </a:solidFill>
          <a:ln w="12700">
            <a:solidFill>
              <a:srgbClr val="F2EA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BRANDED PHOTOBOOTHS FOR VENUES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36576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guest list, </a:t>
            </a:r>
            <a:pPr indent="0" marL="0">
              <a:buNone/>
            </a:pPr>
            <a:r>
              <a:rPr lang="en-US" sz="3400" i="1" spc="-50" kern="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disguised as a photobooth</a:t>
            </a:r>
            <a:pPr indent="0" marL="0">
              <a:buNone/>
            </a:pPr>
            <a:r>
              <a:rPr lang="en-US" sz="34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14400" y="50749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4A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guest who steps in front of the booth gives you their email. They walk away with a branded shot built for sharing. You walk away with a contact list.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6035040"/>
            <a:ext cx="1554480" cy="365760"/>
          </a:xfrm>
          <a:prstGeom prst="rect">
            <a:avLst/>
          </a:prstGeom>
          <a:solidFill>
            <a:srgbClr val="B33A2A"/>
          </a:solidFill>
          <a:ln w="12700">
            <a:solidFill>
              <a:srgbClr val="B33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60533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your booth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606040" y="6035040"/>
            <a:ext cx="1554480" cy="365760"/>
          </a:xfrm>
          <a:prstGeom prst="rect">
            <a:avLst/>
          </a:prstGeom>
          <a:ln w="12700">
            <a:solidFill>
              <a:srgbClr val="1A16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60533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6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See how it works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rot="-360000">
            <a:off x="7498080" y="3383280"/>
            <a:ext cx="17373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 rot="-360000">
            <a:off x="7635240" y="3520440"/>
            <a:ext cx="1463040" cy="1463040"/>
          </a:xfrm>
          <a:prstGeom prst="rect">
            <a:avLst/>
          </a:prstGeom>
          <a:solidFill>
            <a:srgbClr val="1A1612"/>
          </a:solidFill>
          <a:ln w="12700">
            <a:solidFill>
              <a:srgbClr val="1A16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 rot="-360000">
            <a:off x="7635240" y="5074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Brooklyn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 rot="240000">
            <a:off x="8869680" y="3200400"/>
            <a:ext cx="17373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 rot="240000">
            <a:off x="9006840" y="3337560"/>
            <a:ext cx="1463040" cy="1463040"/>
          </a:xfrm>
          <a:prstGeom prst="rect">
            <a:avLst/>
          </a:prstGeom>
          <a:solidFill>
            <a:srgbClr val="C9A063"/>
          </a:solidFill>
          <a:ln w="12700">
            <a:solidFill>
              <a:srgbClr val="C9A06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0000">
            <a:off x="10104120" y="4617720"/>
            <a:ext cx="320040" cy="320040"/>
          </a:xfrm>
          <a:prstGeom prst="ellipse">
            <a:avLst/>
          </a:prstGeom>
          <a:solidFill>
            <a:srgbClr val="B33A2A"/>
          </a:solidFill>
          <a:ln w="12700">
            <a:solidFill>
              <a:srgbClr val="B33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 rot="240000">
            <a:off x="10104120" y="463600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bf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 rot="-180000">
            <a:off x="10058400" y="3611880"/>
            <a:ext cx="17373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 rot="-180000">
            <a:off x="10195560" y="3749040"/>
            <a:ext cx="1463040" cy="1463040"/>
          </a:xfrm>
          <a:prstGeom prst="rect">
            <a:avLst/>
          </a:prstGeom>
          <a:solidFill>
            <a:srgbClr val="B33A2A"/>
          </a:solidFill>
          <a:ln w="12700">
            <a:solidFill>
              <a:srgbClr val="B33A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/ 17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5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  ·  ·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spc="-200" kern="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it well.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0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brand is a tool, not a constraint.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in doubt, default to restraint. The italic moment matters because it's rare. The red matters because most of the world is cream and ink.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11064240" cy="0"/>
          </a:xfrm>
          <a:prstGeom prst="line">
            <a:avLst/>
          </a:prstGeom>
          <a:noFill/>
          <a:ln w="6350">
            <a:solidFill>
              <a:srgbClr val="C9A063">
                <a:alpha val="5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212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ASSET LIBRARY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Logos ·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boothfunnel.com/brand/logos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 files ·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A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github.com/brainwashedtv/boothfunnel/brand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Brand owner · </a:t>
            </a:r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F2EA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David Brain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728655" y="914400"/>
            <a:ext cx="822960" cy="822960"/>
          </a:xfrm>
          <a:prstGeom prst="ellipse">
            <a:avLst/>
          </a:prstGeom>
          <a:solidFill>
            <a:srgbClr val="1A1612"/>
          </a:solidFill>
          <a:ln w="12700">
            <a:solidFill>
              <a:srgbClr val="1A16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28655" y="94731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bf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Boothfunnel · Brand Book v1.0 · Heritage Frame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0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BoothFunnel Brand Book v1.0</dc:title>
  <dc:subject>PptxGenJS Presentation</dc:subject>
  <dc:creator>BoothFunnel</dc:creator>
  <cp:lastModifiedBy>BoothFunnel</cp:lastModifiedBy>
  <cp:revision>1</cp:revision>
  <dcterms:created xsi:type="dcterms:W3CDTF">2026-05-05T22:02:40Z</dcterms:created>
  <dcterms:modified xsi:type="dcterms:W3CDTF">2026-05-05T22:02:40Z</dcterms:modified>
</cp:coreProperties>
</file>